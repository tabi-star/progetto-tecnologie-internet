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Raleway" pitchFamily="2" charset="77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a3c8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a3c8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a3c89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a3c89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c6fa3c898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c6fa3c898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aaa3262fd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aaa3262fd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abf1518c0_1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abf1518c0_1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acb908870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aacb908870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acb908870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acb908870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abf1518c0_1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abf1518c0_1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acb908870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aacb908870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c6fa3c898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c6fa3c898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8" name="Google Shape;18;p3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" name="Google Shape;19;p3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4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4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" name="Google Shape;24;p4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0" name="Google Shape;30;p5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1" name="Google Shape;31;p5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" name="Google Shape;45;p8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0" name="Google Shape;5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0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" name="Google Shape;57;p10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" name="Google Shape;61;p11"/>
          <p:cNvCxnSpPr/>
          <p:nvPr/>
        </p:nvCxnSpPr>
        <p:spPr>
          <a:xfrm>
            <a:off x="425200" y="4740000"/>
            <a:ext cx="8296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2" name="Google Shape;62;p11"/>
          <p:cNvCxnSpPr/>
          <p:nvPr/>
        </p:nvCxnSpPr>
        <p:spPr>
          <a:xfrm>
            <a:off x="425200" y="415650"/>
            <a:ext cx="82968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Lato"/>
              <a:buNone/>
              <a:defRPr sz="96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Progetto “TRCinema”</a:t>
            </a:r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di Ayoub Tabiri e Benedetto Rucci.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>
            <a:spLocks noGrp="1"/>
          </p:cNvSpPr>
          <p:nvPr>
            <p:ph type="body" idx="2"/>
          </p:nvPr>
        </p:nvSpPr>
        <p:spPr>
          <a:xfrm>
            <a:off x="4788400" y="457500"/>
            <a:ext cx="4045200" cy="422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b="1"/>
              <a:t>Il progetto “TRCinema” è una piattaforma web per la gestione di un cinema multisala.</a:t>
            </a:r>
            <a:endParaRPr b="1"/>
          </a:p>
          <a:p>
            <a:pPr marL="457200" lvl="0" indent="-323850" algn="l" rtl="0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it" sz="1500" b="1"/>
              <a:t>Permette agli utenti di consultare i film, acquistare i biglietti e gestire le informazioni personali.</a:t>
            </a:r>
            <a:endParaRPr sz="1500" b="1"/>
          </a:p>
          <a:p>
            <a:pPr marL="457200" lvl="0" indent="-323850" algn="l" rtl="0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it" sz="1500" b="1"/>
              <a:t>Integra funzioni come l’invio automatico di email di conferma e reset della password.</a:t>
            </a:r>
            <a:endParaRPr sz="1500" b="1"/>
          </a:p>
          <a:p>
            <a:pPr marL="457200" lvl="0" indent="-323850" algn="l" rtl="0">
              <a:spcBef>
                <a:spcPts val="1600"/>
              </a:spcBef>
              <a:spcAft>
                <a:spcPts val="0"/>
              </a:spcAft>
              <a:buSzPts val="1500"/>
              <a:buChar char="●"/>
            </a:pPr>
            <a:r>
              <a:rPr lang="it" sz="1500" b="1"/>
              <a:t>Prevede due tipi di utenti: “consumer” e “admin”.</a:t>
            </a:r>
            <a:endParaRPr sz="1500"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b="1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b="1"/>
          </a:p>
        </p:txBody>
      </p:sp>
      <p:pic>
        <p:nvPicPr>
          <p:cNvPr id="79" name="Google Shape;79;p14" title="Screenshot 2025-11-28 alle 15.26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407" y="71800"/>
            <a:ext cx="4353200" cy="1173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4" title="downloa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1975" y="4156125"/>
            <a:ext cx="1450975" cy="802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4" title="users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53724" y="3983000"/>
            <a:ext cx="1148375" cy="114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4" title="istockphoto-1191488141-612x612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2924" y="2789424"/>
            <a:ext cx="1289075" cy="1080240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4" title="150442696-carta-d-identità-modello-di-progettazione-vettoriale-icona-della-carta-di-sicurezza-su-sfondo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641438" y="2849438"/>
            <a:ext cx="1372950" cy="960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4" title="movie-logo-illustration-35102546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240999" y="1379025"/>
            <a:ext cx="1372950" cy="1372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4" title="4532471-icona-piatta-di-vettore-videocamera-o-proiettore-cinematografico-vettoriale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576026" y="1434487"/>
            <a:ext cx="1503774" cy="12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ARCHITETTURA DEL SISTEMA:</a:t>
            </a:r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body" idx="1"/>
          </p:nvPr>
        </p:nvSpPr>
        <p:spPr>
          <a:xfrm>
            <a:off x="5516350" y="1197803"/>
            <a:ext cx="3205500" cy="314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</a:rPr>
              <a:t>“Client-Server”:</a:t>
            </a:r>
            <a:endParaRPr sz="2000" b="1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1600"/>
              </a:spcBef>
              <a:spcAft>
                <a:spcPts val="0"/>
              </a:spcAft>
              <a:buSzPts val="1200"/>
              <a:buChar char="●"/>
            </a:pPr>
            <a:r>
              <a:rPr lang="it" sz="1200"/>
              <a:t>Il server, implementato nel backend, espone una serie di API REST che il client utilizza per accedere ai servizi del sistema.</a:t>
            </a:r>
            <a:endParaRPr sz="1200"/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lang="it" sz="1200"/>
              <a:t>Il client, implementato nel frontend, fornisce l’interfaccia grafica con cui l’utente interagisce ed esegue le chiamate HTTP, per ottenere i dati dal server.</a:t>
            </a:r>
            <a:endParaRPr sz="1200"/>
          </a:p>
          <a:p>
            <a:pPr marL="457200" lvl="0" indent="-304800" algn="l" rtl="0">
              <a:spcBef>
                <a:spcPts val="1200"/>
              </a:spcBef>
              <a:spcAft>
                <a:spcPts val="1200"/>
              </a:spcAft>
              <a:buSzPts val="1200"/>
              <a:buChar char="●"/>
            </a:pPr>
            <a:r>
              <a:rPr lang="it" sz="1200"/>
              <a:t>I dati scambiati tra le due parti sono in formato JSON.</a:t>
            </a:r>
            <a:endParaRPr sz="1200"/>
          </a:p>
        </p:txBody>
      </p:sp>
      <p:pic>
        <p:nvPicPr>
          <p:cNvPr id="92" name="Google Shape;92;p15" title="client-serv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7475" y="1211350"/>
            <a:ext cx="4107832" cy="2406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5" title="was-ist-json_600x250px-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51737" y="3780325"/>
            <a:ext cx="1919325" cy="84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69337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6"/>
          <p:cNvSpPr txBox="1"/>
          <p:nvPr/>
        </p:nvSpPr>
        <p:spPr>
          <a:xfrm>
            <a:off x="5076325" y="247800"/>
            <a:ext cx="3760200" cy="3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Database:</a:t>
            </a:r>
            <a:endParaRPr sz="20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Di tipo relazionale.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E’ stato generato in locale tramite MariaDB derivato da MySQL con mysql2 driver.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Si è utilizzato DBeaver come interfaccia grafica.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Lo si è associato ad un utente creato per il progetto, a cui sono stati concessi tutti i permessi delle operazioni sul database, così da isolare le sue azioni e garantire maggiore sicurezza.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Il codice per la sua creazione è nel file “DatabaseCreation.sql” contenuto nella cartella del progetto.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Lato"/>
              <a:buChar char="●"/>
            </a:pPr>
            <a:r>
              <a:rPr lang="it" sz="12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Il codice per cancellare tutti i dati dal database è nel file “Script_cleanDB.sql”, sempre nella cartella del progetto.</a:t>
            </a:r>
            <a:endParaRPr sz="12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00" name="Google Shape;100;p16" title="019d31123782932ac3e85ee51c6e1f6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71425" y="4254625"/>
            <a:ext cx="2062525" cy="662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6" title="MariaDB_colour_logo.svg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44550" y="4254625"/>
            <a:ext cx="2331674" cy="662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7"/>
          <p:cNvSpPr txBox="1">
            <a:spLocks noGrp="1"/>
          </p:cNvSpPr>
          <p:nvPr>
            <p:ph type="title"/>
          </p:nvPr>
        </p:nvSpPr>
        <p:spPr>
          <a:xfrm>
            <a:off x="311700" y="59560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Security Patterns:</a:t>
            </a:r>
            <a:endParaRPr/>
          </a:p>
        </p:txBody>
      </p:sp>
      <p:sp>
        <p:nvSpPr>
          <p:cNvPr id="107" name="Google Shape;107;p17"/>
          <p:cNvSpPr txBox="1"/>
          <p:nvPr/>
        </p:nvSpPr>
        <p:spPr>
          <a:xfrm>
            <a:off x="43125" y="939250"/>
            <a:ext cx="2811300" cy="23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“Middleware”: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proteggere gli endpoint più sensibili che richiedono autenticazione.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validare gli input lato server, riducendo il rischio di dati non corretti o potenzialmente dannosi inviati dal client.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8" name="Google Shape;108;p17"/>
          <p:cNvSpPr txBox="1"/>
          <p:nvPr/>
        </p:nvSpPr>
        <p:spPr>
          <a:xfrm>
            <a:off x="3123000" y="905700"/>
            <a:ext cx="28500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“Prepared statements”: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Su tutte le operazioni verso il database, garantendo una gestione più sicura  delle query parametrizzate, per prevenire attacchi di tipo “SQL Injection”.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9" name="Google Shape;109;p17"/>
          <p:cNvSpPr txBox="1"/>
          <p:nvPr/>
        </p:nvSpPr>
        <p:spPr>
          <a:xfrm>
            <a:off x="6241575" y="905700"/>
            <a:ext cx="2850000" cy="19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“Hashing”:</a:t>
            </a:r>
            <a:endParaRPr sz="16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Per la protezione delle password degli utenti, rendendole illeggibili e impedendo la loro ricostruzione in caso di accesso non autorizzato.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10" name="Google Shape;110;p17" title="BodyMiddlewar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3531965"/>
            <a:ext cx="2811300" cy="1040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7" title="1826651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8488" y="3224614"/>
            <a:ext cx="1347601" cy="13476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7" title="1720956060498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36010" y="3631463"/>
            <a:ext cx="2948849" cy="84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311700" y="58770"/>
            <a:ext cx="8520600" cy="63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TECNOLOGIE, FRAMEWORK E STRUMENTI DI SVILUPPO UTILIZZATI:</a:t>
            </a:r>
            <a:endParaRPr/>
          </a:p>
        </p:txBody>
      </p:sp>
      <p:sp>
        <p:nvSpPr>
          <p:cNvPr id="118" name="Google Shape;118;p18"/>
          <p:cNvSpPr txBox="1"/>
          <p:nvPr/>
        </p:nvSpPr>
        <p:spPr>
          <a:xfrm>
            <a:off x="5797200" y="1091350"/>
            <a:ext cx="33468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“Strumenti di sviluppo”: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NPM: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Package manager.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Nodemon: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auto-restart server in sviluppo.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Environment variables: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configurazione per ambienti con file “dotenv”.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9" name="Google Shape;119;p18"/>
          <p:cNvSpPr txBox="1"/>
          <p:nvPr/>
        </p:nvSpPr>
        <p:spPr>
          <a:xfrm>
            <a:off x="311700" y="1087113"/>
            <a:ext cx="2811300" cy="23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“Backend”: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Node.js: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runtime javascript.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Express.js: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reb framework.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Es Modules: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sistema di moduli.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Autenticazione: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JWT, bcryptjs e crypto.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Email: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nodemailer e gmail SMTP.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Database: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MariaDB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8"/>
          <p:cNvSpPr txBox="1"/>
          <p:nvPr/>
        </p:nvSpPr>
        <p:spPr>
          <a:xfrm>
            <a:off x="3166350" y="1087127"/>
            <a:ext cx="2811300" cy="23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“Frontend”: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React.js: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Libreria UI con html e css.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React Router: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routing client-side.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Vite: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build tool e dev server.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Axios: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come HTTP client per le chiamate API.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Icon library: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Lucide react per icone 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1" name="Google Shape;121;p18"/>
          <p:cNvSpPr txBox="1"/>
          <p:nvPr/>
        </p:nvSpPr>
        <p:spPr>
          <a:xfrm>
            <a:off x="217350" y="3741166"/>
            <a:ext cx="3000000" cy="127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“QR Code”: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qrcode: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generazione QR Code.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Custom QR Reader: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sistema validazione personalizzato.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8"/>
          <p:cNvSpPr txBox="1"/>
          <p:nvPr/>
        </p:nvSpPr>
        <p:spPr>
          <a:xfrm>
            <a:off x="3071995" y="3741175"/>
            <a:ext cx="3000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“Condivisione del codice”:</a:t>
            </a:r>
            <a:endParaRPr sz="15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</a:pPr>
            <a:r>
              <a:rPr lang="it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GitHub: </a:t>
            </a: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con la sua versione Desktop.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23" name="Google Shape;123;p18" title="1_NJSv6DGoKTloI8d8im98z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1925" y="3563116"/>
            <a:ext cx="706925" cy="747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github-desktop-2021-05-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8850" y="4366025"/>
            <a:ext cx="773288" cy="74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f3a9a38b-116d-4b35-8f46-8d8abb78166f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61750" y="2903688"/>
            <a:ext cx="1696749" cy="43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8" title="Vitejs-logo.svg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0558" y="3563125"/>
            <a:ext cx="759117" cy="747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8" title="Node.js_logo.svg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103275" y="2799850"/>
            <a:ext cx="1044228" cy="63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19" title="Screenshot 2025-11-29 alle 02.00.0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7850" y="0"/>
            <a:ext cx="588831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0" title="IMG_327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67775" y="0"/>
            <a:ext cx="1110092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0"/>
          <p:cNvSpPr txBox="1"/>
          <p:nvPr/>
        </p:nvSpPr>
        <p:spPr>
          <a:xfrm>
            <a:off x="3407525" y="1353300"/>
            <a:ext cx="4656300" cy="24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Biglietto che viene inviato via mail all’acquirente:</a:t>
            </a:r>
            <a:endParaRPr sz="20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Sono indicate le informazioni relative alla prenotazione effettuata. Inoltre, è presente il codice QR da far scansionare e convalidare dai gestori del cinema.</a:t>
            </a: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L’invio del biglietto, avviene dopo un’operazione di pagamento simulato.</a:t>
            </a: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1" title="Screenshot 2025-11-29 alle 02.08.5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775" y="152400"/>
            <a:ext cx="3373460" cy="4838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1"/>
          <p:cNvSpPr txBox="1"/>
          <p:nvPr/>
        </p:nvSpPr>
        <p:spPr>
          <a:xfrm>
            <a:off x="4443050" y="1830100"/>
            <a:ext cx="3879900" cy="152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000" b="1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Mail per il reset della password:</a:t>
            </a:r>
            <a:endParaRPr sz="2000" b="1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Mail inviata all’utente per reimpostare la propria password, nel caso l’abbia dimenticata oppure persa.</a:t>
            </a:r>
            <a:endParaRPr sz="16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2"/>
          <p:cNvSpPr txBox="1">
            <a:spLocks noGrp="1"/>
          </p:cNvSpPr>
          <p:nvPr>
            <p:ph type="title"/>
          </p:nvPr>
        </p:nvSpPr>
        <p:spPr>
          <a:xfrm>
            <a:off x="423600" y="1800750"/>
            <a:ext cx="8296800" cy="15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Fine presentazione.</a:t>
            </a:r>
            <a:endParaRPr/>
          </a:p>
        </p:txBody>
      </p:sp>
      <p:sp>
        <p:nvSpPr>
          <p:cNvPr id="150" name="Google Shape;150;p22"/>
          <p:cNvSpPr txBox="1"/>
          <p:nvPr/>
        </p:nvSpPr>
        <p:spPr>
          <a:xfrm>
            <a:off x="2711700" y="4267056"/>
            <a:ext cx="6432300" cy="5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Si può procedere con la visione del sito e del suo funzionamento…</a:t>
            </a:r>
            <a:endParaRPr sz="16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Swiss">
      <a:dk1>
        <a:srgbClr val="F46524"/>
      </a:dk1>
      <a:lt1>
        <a:srgbClr val="FFFFFF"/>
      </a:lt1>
      <a:dk2>
        <a:srgbClr val="000000"/>
      </a:dk2>
      <a:lt2>
        <a:srgbClr val="757575"/>
      </a:lt2>
      <a:accent1>
        <a:srgbClr val="01579B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0277BD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</Words>
  <Application>Microsoft Macintosh PowerPoint</Application>
  <PresentationFormat>Presentazione su schermo (16:9)</PresentationFormat>
  <Paragraphs>63</Paragraphs>
  <Slides>10</Slides>
  <Notes>10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Raleway</vt:lpstr>
      <vt:lpstr>Arial</vt:lpstr>
      <vt:lpstr>Lato</vt:lpstr>
      <vt:lpstr>Swiss</vt:lpstr>
      <vt:lpstr>Progetto “TRCinema”</vt:lpstr>
      <vt:lpstr>Presentazione standard di PowerPoint</vt:lpstr>
      <vt:lpstr>ARCHITETTURA DEL SISTEMA:</vt:lpstr>
      <vt:lpstr>Presentazione standard di PowerPoint</vt:lpstr>
      <vt:lpstr>Security Patterns:</vt:lpstr>
      <vt:lpstr>TECNOLOGIE, FRAMEWORK E STRUMENTI DI SVILUPPO UTILIZZATI:</vt:lpstr>
      <vt:lpstr>Presentazione standard di PowerPoint</vt:lpstr>
      <vt:lpstr>Presentazione standard di PowerPoint</vt:lpstr>
      <vt:lpstr>Presentazione standard di PowerPoint</vt:lpstr>
      <vt:lpstr>Fine presentazione.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Benedetto RUCCI</cp:lastModifiedBy>
  <cp:revision>1</cp:revision>
  <dcterms:modified xsi:type="dcterms:W3CDTF">2025-12-03T00:00:40Z</dcterms:modified>
</cp:coreProperties>
</file>